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0" r:id="rId3"/>
    <p:sldId id="257" r:id="rId4"/>
    <p:sldId id="273" r:id="rId5"/>
    <p:sldId id="260" r:id="rId6"/>
    <p:sldId id="274" r:id="rId7"/>
    <p:sldId id="275" r:id="rId8"/>
    <p:sldId id="259" r:id="rId9"/>
    <p:sldId id="261" r:id="rId10"/>
    <p:sldId id="262" r:id="rId11"/>
    <p:sldId id="264" r:id="rId12"/>
    <p:sldId id="277" r:id="rId13"/>
    <p:sldId id="265" r:id="rId14"/>
    <p:sldId id="266" r:id="rId15"/>
    <p:sldId id="268" r:id="rId16"/>
    <p:sldId id="267" r:id="rId17"/>
    <p:sldId id="276" r:id="rId18"/>
    <p:sldId id="272" r:id="rId19"/>
    <p:sldId id="278" r:id="rId20"/>
    <p:sldId id="280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26004-DA4F-449E-980E-4355096F29A5}" type="datetimeFigureOut">
              <a:rPr lang="en-IN" smtClean="0"/>
              <a:t>09-08-2022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6A9FD-DACA-489C-8D1D-DEAD986890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460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6A9FD-DACA-489C-8D1D-DEAD9868903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33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6A9FD-DACA-489C-8D1D-DEAD9868903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683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6A9FD-DACA-489C-8D1D-DEAD9868903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1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B7EC-91FB-4803-984D-72A6C3CC4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412D8-3D9B-43DF-8882-23E5D07FE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B2CAA-B8F8-46B3-B293-7D2542792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2F2D3-5E84-48E4-9964-A72614D7E609}" type="datetime1">
              <a:rPr lang="en-IN" smtClean="0"/>
              <a:t>09-08-2022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B199F-8B9C-49E9-9468-6226E8B0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E9B17-9615-4D0F-8403-CED82587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89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B2A9-E793-44AE-A33C-B1366508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BAC60-57FC-4A31-9591-2CAC1948F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E98E0-489C-4EB9-8F3E-C523D34FB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5B577-3A28-4728-89C1-C2FF738F7023}" type="datetime1">
              <a:rPr lang="en-IN" smtClean="0"/>
              <a:t>09-08-2022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0CD95-C0BF-47D0-9436-981BC7E4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D6631-0BDB-4AB6-957D-A6BEEF16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475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9055-B162-457F-98ED-0857A3B6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2E97C-243E-4280-B7B0-128542A53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81168-B630-4027-8082-5620E1D6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CB2CA-AAA7-48C9-AE8C-3552169FA6C5}" type="datetime1">
              <a:rPr lang="en-IN" smtClean="0"/>
              <a:t>09-08-2022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A2C0D-8FF2-44F4-B73B-ACFC0510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5879-9DEE-4934-80A3-57BD0308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190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EF8A-FB3F-48E8-A81A-52361F906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6DFC-A621-405C-A4CB-0B9C55919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7436B-8355-496A-9C3A-5BDA97DAE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6E8DA-24E9-4331-8F05-01C07A13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782A2-F4CB-4305-891A-E4740B285609}" type="datetime1">
              <a:rPr lang="en-IN" smtClean="0"/>
              <a:t>09-08-2022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F90D2-858C-4267-B83C-5A352493D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C7C67-0BAA-46B8-BD47-18227AB9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33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D725-C0B2-4A69-BEAD-41BF4BB1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4DDEF-C74F-4436-8BED-197C17BEE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7991B-3262-4FC9-8C34-6B83A7A03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34400-29C1-46E3-AC54-FD4F89A3F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B25F9D-34C2-4892-82A5-926348ED7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6C333A-449A-42C1-B0AA-5C68C1AE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EBE24-6E22-4A6B-9028-C085E024DD83}" type="datetime1">
              <a:rPr lang="en-IN" smtClean="0"/>
              <a:t>09-08-2022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06AD0-4BF7-4173-BF6D-9D312FC3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2D6776-E46E-488F-A7F0-467D6AD5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20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7DF8E-9893-42CF-A8BE-74EDD510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7F7F4-DA67-4066-9D7C-E0373515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78001-42E3-4305-AD6A-5F9D81E84E20}" type="datetime1">
              <a:rPr lang="en-IN" smtClean="0"/>
              <a:t>09-08-2022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91DF3-0114-4B9C-979D-6C48E86D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E9A252-C0ED-4142-B07E-7EF6FB780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48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71B36-6FCE-4D98-999B-0158E570E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59FAD-AA1E-4B4F-A481-DFD8DD330309}" type="datetime1">
              <a:rPr lang="en-IN" smtClean="0"/>
              <a:t>09-08-2022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CD757-6C2B-434D-BFD1-90F705A5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07D2-79F8-4376-8E32-7B8ECCAC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7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B3CC-8B33-411D-83D9-B301C6A4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396-B1AC-4C2A-AE8F-4E49EEFCF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713B9-6898-465C-A136-A55F7091B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7C485-29A1-4346-9308-EC243382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25CB-1F2A-4C7A-B854-CEFBE111FFF2}" type="datetime1">
              <a:rPr lang="en-IN" smtClean="0"/>
              <a:t>09-08-2022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F4704-E864-466B-A9E1-E07285B8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B281A-26CA-46DC-A431-E2D48AB4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919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5615-9A62-4966-9B35-7B9E54CA7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A97E7-F20B-4DB6-BA6D-7A1B98C54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6B361-9BE5-4FA2-ADB5-FDF1B28F3C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89657-F80E-4807-A919-B30D1F5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945F2-BC29-4608-84AA-191D47C08C28}" type="datetime1">
              <a:rPr lang="en-IN" smtClean="0"/>
              <a:t>09-08-2022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F6B2A-BC73-4AD3-8F26-A5391749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8219B-6329-4DC5-A0F9-F1ECF957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12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D78A-B791-47D7-95E8-416FAC74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10D82-1D3E-4358-B36E-16AEC72EF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F1A01-6F41-48FD-8FEA-6956A2B3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C87B-EA8D-41A3-BC0F-BBEDC2FCDDA5}" type="datetime1">
              <a:rPr lang="en-IN" smtClean="0"/>
              <a:t>09-08-2022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67786-5B11-4A4B-A538-2C3241635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CA445-F36D-4E9A-B3FA-E79B4347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37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E22ED6-1A5B-4AE6-A14F-71F301F97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10E4A-4777-4441-931C-74C521965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A5F37-8C37-4316-A1FC-D3F46E4A6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4CE8-C1AE-4819-BE28-810B749C53A4}" type="datetime1">
              <a:rPr lang="en-IN" smtClean="0"/>
              <a:t>09-08-2022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C5383-735E-4915-A824-337B3E3B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EAAFB-4854-49AC-86D6-4C9C74D0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8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3C4A08-0693-46E2-BD44-7C5936A1B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928FE-A5B3-44F5-A74D-9E5CB3A63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54863-75FA-4F96-A8E2-BEC6AB63A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EB5B6-FAF8-4CE0-8F96-836F760A4DC8}" type="datetime1">
              <a:rPr lang="en-IN" smtClean="0"/>
              <a:t>09-08-2022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21F6F-1018-442F-9F3D-92F18C01A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CC49-326B-4D3B-8CC2-42E65A24A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72C7A-1B5E-454A-A45A-13AF0C11F5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03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EE6B-E6D2-4235-8731-722C43380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5359" y="2736806"/>
            <a:ext cx="9144000" cy="2387600"/>
          </a:xfrm>
        </p:spPr>
        <p:txBody>
          <a:bodyPr>
            <a:normAutofit/>
          </a:bodyPr>
          <a:lstStyle/>
          <a:p>
            <a:r>
              <a:rPr lang="en-IN" dirty="0"/>
              <a:t>TMI/TMLI Patient Simulation and planning Detail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D5BA0-F219-ACFE-A173-7740A059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B64B-0599-75E6-93A0-82F41153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E0AA9-AF2D-AD15-DE84-80F26A1648C2}"/>
              </a:ext>
            </a:extLst>
          </p:cNvPr>
          <p:cNvSpPr txBox="1"/>
          <p:nvPr/>
        </p:nvSpPr>
        <p:spPr>
          <a:xfrm>
            <a:off x="843840" y="1273200"/>
            <a:ext cx="9444333" cy="2247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0000CC"/>
                </a:solidFill>
              </a:rPr>
              <a:t>Additional file: </a:t>
            </a:r>
            <a:r>
              <a:rPr lang="en-IN" sz="2400" b="1" dirty="0">
                <a:solidFill>
                  <a:srgbClr val="0000CC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Preclinical validation and treatment  of Volumetric Modulated Arc Therapy Based Total Bone Marrow Irradiation in Halcyon™ Ring Gantry Linear Accelerator.</a:t>
            </a:r>
            <a:endParaRPr lang="en-IN" sz="2400" b="1" dirty="0">
              <a:solidFill>
                <a:srgbClr val="0000CC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0855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E9F1-F2D4-48D3-B9E4-8E3C26856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Simulation: Lean patient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DAAD70-006B-4AFF-8023-DB730F5DE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11" y="1825625"/>
            <a:ext cx="9432577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3C917-67D8-AAFB-7708-80213C9F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2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CB0E2-7343-1C1C-6DE4-22B6C27A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0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7829-FC6A-4D23-BF2A-3A56B87A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72" y="702749"/>
            <a:ext cx="2903806" cy="5641780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Junction Plan </a:t>
            </a:r>
            <a:r>
              <a:rPr lang="en-IN" dirty="0"/>
              <a:t>Junction Contour, and AP-PA open Beam Plan in HFS CT Set ,</a:t>
            </a:r>
            <a:br>
              <a:rPr lang="en-IN" dirty="0"/>
            </a:br>
            <a:r>
              <a:rPr lang="en-IN" b="1" dirty="0">
                <a:solidFill>
                  <a:srgbClr val="00B0F0"/>
                </a:solidFill>
              </a:rPr>
              <a:t>Element-1</a:t>
            </a:r>
            <a:br>
              <a:rPr lang="en-IN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820662-8AFD-438D-B1F0-F5D1E07182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709" b="10894"/>
          <a:stretch/>
        </p:blipFill>
        <p:spPr>
          <a:xfrm>
            <a:off x="3483064" y="123574"/>
            <a:ext cx="8567085" cy="64601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EFA71-83FC-771A-537E-824B484D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1850" y="187667"/>
            <a:ext cx="316521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3</a:t>
            </a:fld>
            <a:endParaRPr lang="en-IN">
              <a:solidFill>
                <a:srgbClr val="00206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42DBE-C294-1C65-01D0-316AF3CB8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5368" y="6397435"/>
            <a:ext cx="4114800" cy="365125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14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FE35-AA05-4A1A-AE12-3719D32F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6" y="365125"/>
            <a:ext cx="11619914" cy="1325563"/>
          </a:xfrm>
        </p:spPr>
        <p:txBody>
          <a:bodyPr/>
          <a:lstStyle/>
          <a:p>
            <a:r>
              <a:rPr lang="en-IN" dirty="0"/>
              <a:t>Beam Arrangement for Junction Contour and MU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D4BFAB-A06B-48B1-AFE0-AA289B263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2" t="59903" r="5500" b="24910"/>
          <a:stretch/>
        </p:blipFill>
        <p:spPr>
          <a:xfrm>
            <a:off x="154745" y="2387990"/>
            <a:ext cx="11774658" cy="229655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8D793-33C1-A987-EC01-6C1BCAC0C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4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A537E-8FD5-3A57-0B50-342F7389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1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E580-5922-4265-9B8E-9F30FE4C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98" y="755979"/>
            <a:ext cx="3943644" cy="5163478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HFS Plan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Creation of  PTV segments for ease of optimization and better control over dose build-up during optimization over each PTV segment.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60F3C7-FF89-49FD-9993-5814F916E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1" y="0"/>
            <a:ext cx="7723162" cy="66754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A5E88-8216-9E71-77E1-C992C7DD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2090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5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DAEAC-03EE-8E3F-06FC-09D47924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3"/>
            <a:ext cx="4114800" cy="365125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473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0851-FFD5-48A0-936A-F549D15E8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26" y="111908"/>
            <a:ext cx="10515600" cy="675884"/>
          </a:xfrm>
        </p:spPr>
        <p:txBody>
          <a:bodyPr>
            <a:normAutofit fontScale="90000"/>
          </a:bodyPr>
          <a:lstStyle/>
          <a:p>
            <a:r>
              <a:rPr lang="en-IN" dirty="0"/>
              <a:t>Beam Arrangement and MU _HFS 1 of 2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043EE-E575-46B3-83DF-ADAA349402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5" t="36097" r="4577" b="19164"/>
          <a:stretch/>
        </p:blipFill>
        <p:spPr>
          <a:xfrm>
            <a:off x="0" y="1426625"/>
            <a:ext cx="12192000" cy="46646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ACD1B-9AB0-4D7D-7DB1-041D3526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6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5316C-EE88-CA0A-D7C2-2DD08BFCE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978947-136F-1E1B-F363-0DAFF5A03B97}"/>
              </a:ext>
            </a:extLst>
          </p:cNvPr>
          <p:cNvCxnSpPr/>
          <p:nvPr/>
        </p:nvCxnSpPr>
        <p:spPr>
          <a:xfrm>
            <a:off x="0" y="3443068"/>
            <a:ext cx="117887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875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0851-FFD5-48A0-936A-F549D15E8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26" y="111908"/>
            <a:ext cx="10515600" cy="675884"/>
          </a:xfrm>
        </p:spPr>
        <p:txBody>
          <a:bodyPr>
            <a:normAutofit fontScale="90000"/>
          </a:bodyPr>
          <a:lstStyle/>
          <a:p>
            <a:r>
              <a:rPr lang="en-IN" dirty="0"/>
              <a:t>Beam Arrangement and MU _HFS 2 of 2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14CECB-14E1-468F-848D-9D027BC19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6" t="15164" r="6067" b="32709"/>
          <a:stretch/>
        </p:blipFill>
        <p:spPr>
          <a:xfrm>
            <a:off x="168812" y="787792"/>
            <a:ext cx="11901268" cy="55848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4F04A-39F2-4EEE-385D-0DB5F906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7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47C2E-7110-55C0-A1AD-99C3ECF6A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49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7829-FC6A-4D23-BF2A-3A56B87A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6942"/>
            <a:ext cx="3108960" cy="2630659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HFS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Optimization Parameters Set -1 of 4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30900-05BE-4B5D-5BD4-57429A00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49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8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655CA-ABEA-BD1D-1418-002364E4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90778" y="6356349"/>
            <a:ext cx="4114800" cy="365125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158" b="4755"/>
          <a:stretch/>
        </p:blipFill>
        <p:spPr>
          <a:xfrm>
            <a:off x="3178206" y="139337"/>
            <a:ext cx="8857040" cy="621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52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7829-FC6A-4D23-BF2A-3A56B87A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62737"/>
            <a:ext cx="3108960" cy="1927909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HFS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Optimization Parameters Set -2 of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69333-E297-D930-C5B3-159F55308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5511" y="6408151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9</a:t>
            </a:fld>
            <a:endParaRPr lang="en-IN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C5F8B-A09A-4264-3895-D569FE72B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it-IT">
                <a:solidFill>
                  <a:srgbClr val="002060"/>
                </a:solidFill>
              </a:rPr>
              <a:t>Apollo Multispeciality Hospital Kolkata, India</a:t>
            </a:r>
            <a:endParaRPr lang="en-IN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3132" b="4251"/>
          <a:stretch/>
        </p:blipFill>
        <p:spPr>
          <a:xfrm>
            <a:off x="3108960" y="200297"/>
            <a:ext cx="9056914" cy="620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86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7829-FC6A-4D23-BF2A-3A56B87A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43944"/>
            <a:ext cx="3108960" cy="1970112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HFS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Optimization Parameters Set -3 of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F1C9D-CEF9-20DD-E434-AD3D671A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443" y="6492875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10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13F38-D9FD-49AA-2ADB-5B34EA48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57693"/>
            <a:ext cx="4114800" cy="365125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688" b="4088"/>
          <a:stretch/>
        </p:blipFill>
        <p:spPr>
          <a:xfrm>
            <a:off x="3248296" y="148046"/>
            <a:ext cx="8943703" cy="630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3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7829-FC6A-4D23-BF2A-3A56B87A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6129"/>
            <a:ext cx="3108960" cy="1970112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HFS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Optimization Parameters Set -4 of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A19F0-C77E-FC59-328F-8332DE84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9917" y="6453382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11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BBA5-CE3F-915A-E9EF-2F171CF1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0099"/>
            <a:ext cx="4114800" cy="365125"/>
          </a:xfrm>
        </p:spPr>
        <p:txBody>
          <a:bodyPr/>
          <a:lstStyle/>
          <a:p>
            <a:r>
              <a:rPr lang="it-IT">
                <a:solidFill>
                  <a:srgbClr val="002060"/>
                </a:solidFill>
              </a:rPr>
              <a:t>Apollo Multispeciality Hospital Kolkata, India</a:t>
            </a:r>
            <a:endParaRPr lang="en-IN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218" b="4227"/>
          <a:stretch/>
        </p:blipFill>
        <p:spPr>
          <a:xfrm>
            <a:off x="3004457" y="148046"/>
            <a:ext cx="9038659" cy="623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29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83C7-5E16-4532-9DB3-D6B3757C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2" y="335009"/>
            <a:ext cx="12027876" cy="1325563"/>
          </a:xfrm>
        </p:spPr>
        <p:txBody>
          <a:bodyPr>
            <a:normAutofit/>
          </a:bodyPr>
          <a:lstStyle/>
          <a:p>
            <a:r>
              <a:rPr lang="en-IN" sz="3200" dirty="0"/>
              <a:t>Isocentre placement and Dose Distribution (coronal)-HFS  </a:t>
            </a:r>
            <a:r>
              <a:rPr lang="en-IN" sz="3200" b="1" dirty="0">
                <a:solidFill>
                  <a:srgbClr val="00B0F0"/>
                </a:solidFill>
              </a:rPr>
              <a:t>Element-2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39B7E-5AC3-4015-8C98-577EB61A6B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15732" r="34322" b="20265"/>
          <a:stretch/>
        </p:blipFill>
        <p:spPr>
          <a:xfrm rot="16200000">
            <a:off x="2902084" y="-759938"/>
            <a:ext cx="4697367" cy="9868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25787C-A9AA-4572-895B-FBD5956108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01" t="14760" r="77535" b="54944"/>
          <a:stretch/>
        </p:blipFill>
        <p:spPr>
          <a:xfrm>
            <a:off x="10185010" y="1825624"/>
            <a:ext cx="1842867" cy="469736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F2E6A-2C2E-85D1-E1EB-64C8F140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2276" y="6492658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12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092665-3C92-165F-53DA-1DF56F46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3443"/>
            <a:ext cx="4114800" cy="365125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786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83C7-5E16-4532-9DB3-D6B3757CD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5" y="365125"/>
            <a:ext cx="11929402" cy="1325563"/>
          </a:xfrm>
        </p:spPr>
        <p:txBody>
          <a:bodyPr>
            <a:normAutofit/>
          </a:bodyPr>
          <a:lstStyle/>
          <a:p>
            <a:r>
              <a:rPr lang="en-IN" sz="4000" dirty="0"/>
              <a:t>Isocentre placement and Dose Distribution (Sagittal)-HFS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96207A-0506-4B05-AF0C-03BE4CD4A3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1" t="15289" r="31834" b="19942"/>
          <a:stretch/>
        </p:blipFill>
        <p:spPr>
          <a:xfrm rot="16200000">
            <a:off x="3047268" y="-926223"/>
            <a:ext cx="4695386" cy="10142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75A562-A183-4877-9A12-EBFBF6BC0A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02" t="15042" r="74694" b="53261"/>
          <a:stretch/>
        </p:blipFill>
        <p:spPr>
          <a:xfrm>
            <a:off x="10466366" y="1797488"/>
            <a:ext cx="1725634" cy="46953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1F28C-29AE-4B39-24D2-301146DD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4677" y="6492875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13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545F3-9008-3C61-2C53-2F47C9026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17112"/>
            <a:ext cx="4114800" cy="365125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637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91DB-F861-456F-B77A-499F5D79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06"/>
            <a:ext cx="10515600" cy="1325563"/>
          </a:xfrm>
        </p:spPr>
        <p:txBody>
          <a:bodyPr/>
          <a:lstStyle/>
          <a:p>
            <a:r>
              <a:rPr lang="en-IN" sz="4400" dirty="0"/>
              <a:t>Arcs and Dose Distribution (Axial)- HFS CT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0CEF3-989C-40AB-8B53-C76A5D74B0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97" t="18126" r="21439" b="20861"/>
          <a:stretch/>
        </p:blipFill>
        <p:spPr>
          <a:xfrm>
            <a:off x="1744394" y="1406769"/>
            <a:ext cx="7573108" cy="4931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4EB5D3-B64D-48E8-B53C-4770DECDC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02" t="13918" r="77771" b="54944"/>
          <a:stretch/>
        </p:blipFill>
        <p:spPr>
          <a:xfrm>
            <a:off x="9353258" y="1406769"/>
            <a:ext cx="1740875" cy="493136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BE0775-4D47-1025-55AB-36476218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14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EFF16-D422-FD78-13BD-5C757949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504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AB21-5A7D-49FD-AC3A-FB1F6D4D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430" y="280720"/>
            <a:ext cx="9544757" cy="1140118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FFS Plan : </a:t>
            </a:r>
            <a:br>
              <a:rPr lang="en-IN" b="1" u="sng" dirty="0"/>
            </a:br>
            <a:r>
              <a:rPr lang="en-IN" dirty="0"/>
              <a:t>Beam Arrangement and MU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EA8CDA-D9BC-44A5-8979-D2D2E284CA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2" t="45331" r="5962" b="16497"/>
          <a:stretch/>
        </p:blipFill>
        <p:spPr>
          <a:xfrm>
            <a:off x="112542" y="1825625"/>
            <a:ext cx="11887199" cy="41672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23668-43BD-8B7F-B20D-534ADD86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6360" y="6356349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15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3ACDA-DB5C-F23A-5008-A58B12FC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56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AB21-5A7D-49FD-AC3A-FB1F6D4D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45" y="365125"/>
            <a:ext cx="3216811" cy="4671109"/>
          </a:xfrm>
        </p:spPr>
        <p:txBody>
          <a:bodyPr>
            <a:normAutofit fontScale="90000"/>
          </a:bodyPr>
          <a:lstStyle/>
          <a:p>
            <a:r>
              <a:rPr lang="en-IN" dirty="0"/>
              <a:t>FFS-CT beam Placement and dose distribution (3D Representation) – </a:t>
            </a:r>
            <a:r>
              <a:rPr lang="en-IN" b="1" dirty="0">
                <a:solidFill>
                  <a:srgbClr val="00B0F0"/>
                </a:solidFill>
              </a:rPr>
              <a:t>Element -3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0FC43D-F46F-4DCD-8457-E25036525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772" t="20440" r="36428" b="11990"/>
          <a:stretch/>
        </p:blipFill>
        <p:spPr>
          <a:xfrm>
            <a:off x="3371556" y="365125"/>
            <a:ext cx="8820444" cy="63592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330B4-FC1E-71B8-BF87-2FAD30B8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>
                <a:solidFill>
                  <a:schemeClr val="bg1"/>
                </a:solidFill>
              </a:rPr>
              <a:t>16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92221-A658-DD29-D410-86848D2B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94250" y="6356350"/>
            <a:ext cx="4114800" cy="365125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72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AB21-5A7D-49FD-AC3A-FB1F6D4D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720"/>
            <a:ext cx="10881188" cy="1140118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FFS Plan : </a:t>
            </a:r>
            <a:br>
              <a:rPr lang="en-IN" dirty="0"/>
            </a:br>
            <a:r>
              <a:rPr lang="en-IN" dirty="0"/>
              <a:t>FFS-CT dose distribution (Sagittal and Coronal)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F2B903-4502-43E1-A50F-BE70A61C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ED27AF-B546-4536-B264-8976B55E15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38" t="42048" r="17615" b="24090"/>
          <a:stretch/>
        </p:blipFill>
        <p:spPr>
          <a:xfrm>
            <a:off x="655406" y="1693569"/>
            <a:ext cx="10881188" cy="4883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292658-3E6B-4928-B554-67211F0626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93" t="30153" r="79115" b="28666"/>
          <a:stretch/>
        </p:blipFill>
        <p:spPr>
          <a:xfrm>
            <a:off x="4594273" y="1746639"/>
            <a:ext cx="2763129" cy="47775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7D563-EAC9-71B4-C6CB-5FA1552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3308" y="6412312"/>
            <a:ext cx="2743200" cy="365125"/>
          </a:xfrm>
        </p:spPr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17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B951A-4949-C350-8596-9E3A7205F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437" y="6577278"/>
            <a:ext cx="4114800" cy="365125"/>
          </a:xfrm>
        </p:spPr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826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4931-2FC5-4F84-8D8D-C20DE4AB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51" y="421397"/>
            <a:ext cx="11347936" cy="78842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/>
              <a:t>Resultant dose distribution: HFS Plan + FFS Plan+ HFS Junction Plan </a:t>
            </a:r>
            <a:r>
              <a:rPr lang="en-IN" sz="3600" b="1" dirty="0">
                <a:solidFill>
                  <a:srgbClr val="00B0F0"/>
                </a:solidFill>
              </a:rPr>
              <a:t>Element 1+2+3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5EB62-556D-416D-8126-2AC4EBAFCC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54" t="43279" r="24077" b="18139"/>
          <a:stretch/>
        </p:blipFill>
        <p:spPr>
          <a:xfrm>
            <a:off x="365761" y="1690688"/>
            <a:ext cx="9425354" cy="4486276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4A331A-09BA-40A6-A347-54BD8A059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6118" t="30294" r="79006" b="28524"/>
          <a:stretch/>
        </p:blipFill>
        <p:spPr>
          <a:xfrm>
            <a:off x="9791115" y="1690688"/>
            <a:ext cx="2232072" cy="44862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043A5-9D5D-8953-F966-27D5945A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>
                <a:solidFill>
                  <a:srgbClr val="002060"/>
                </a:solidFill>
              </a:rPr>
              <a:t>18</a:t>
            </a:fld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CCD5BE-B5E4-89AB-6B30-8F0B46880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>
                <a:solidFill>
                  <a:srgbClr val="002060"/>
                </a:solidFill>
              </a:rPr>
              <a:t>Apollo Multispeciality Hospital Kolkata, India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571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F954-99AA-F5D7-3147-ECB04AD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996" y="138554"/>
            <a:ext cx="9248335" cy="762319"/>
          </a:xfrm>
        </p:spPr>
        <p:txBody>
          <a:bodyPr>
            <a:normAutofit fontScale="90000"/>
          </a:bodyPr>
          <a:lstStyle/>
          <a:p>
            <a:r>
              <a:rPr lang="en-IN" dirty="0"/>
              <a:t>Typical Dose Distribution (lung :superior)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4CAC9-0B93-B4E5-554E-9CBE7D42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EFE3F-0B76-794A-8DBF-E7101641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19</a:t>
            </a:fld>
            <a:endParaRPr lang="en-IN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15F8A512-B240-3202-52B7-61F27F0F11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30" b="52185"/>
          <a:stretch/>
        </p:blipFill>
        <p:spPr>
          <a:xfrm>
            <a:off x="1063283" y="900873"/>
            <a:ext cx="9557825" cy="527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08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F954-99AA-F5D7-3147-ECB04AD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996" y="138554"/>
            <a:ext cx="9248335" cy="762319"/>
          </a:xfrm>
        </p:spPr>
        <p:txBody>
          <a:bodyPr>
            <a:normAutofit fontScale="90000"/>
          </a:bodyPr>
          <a:lstStyle/>
          <a:p>
            <a:r>
              <a:rPr lang="en-IN" dirty="0"/>
              <a:t>Typical Dose Distribution (lung: mid level)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4CAC9-0B93-B4E5-554E-9CBE7D42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EFE3F-0B76-794A-8DBF-E7101641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20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474E6-F330-D602-6F3B-5F2F985A35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231" b="62997"/>
          <a:stretch/>
        </p:blipFill>
        <p:spPr>
          <a:xfrm>
            <a:off x="1172394" y="808791"/>
            <a:ext cx="9622127" cy="554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07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F954-99AA-F5D7-3147-ECB04AD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996" y="138554"/>
            <a:ext cx="9248335" cy="762319"/>
          </a:xfrm>
        </p:spPr>
        <p:txBody>
          <a:bodyPr>
            <a:normAutofit/>
          </a:bodyPr>
          <a:lstStyle/>
          <a:p>
            <a:r>
              <a:rPr lang="en-IN" dirty="0"/>
              <a:t>Typical Dose Distribution (Kidney level)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4CAC9-0B93-B4E5-554E-9CBE7D42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Apollo Multispeciality Hospital Kolkata, India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EFE3F-0B76-794A-8DBF-E7101641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2C7A-1B5E-454A-A45A-13AF0C11F554}" type="slidenum">
              <a:rPr lang="en-IN" smtClean="0"/>
              <a:t>21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E6217-5EF6-A9CE-9B7C-CDA3896107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2" r="59500" b="65549"/>
          <a:stretch/>
        </p:blipFill>
        <p:spPr>
          <a:xfrm>
            <a:off x="795996" y="900872"/>
            <a:ext cx="10600008" cy="545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9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398</Words>
  <Application>Microsoft Office PowerPoint</Application>
  <PresentationFormat>Widescreen</PresentationFormat>
  <Paragraphs>68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TMI/TMLI Patient Simulation and planning Detail</vt:lpstr>
      <vt:lpstr>Simulation: Lean patient</vt:lpstr>
      <vt:lpstr>Junction Plan Junction Contour, and AP-PA open Beam Plan in HFS CT Set , Element-1 </vt:lpstr>
      <vt:lpstr>Beam Arrangement for Junction Contour and MU </vt:lpstr>
      <vt:lpstr>HFS Plan   Creation of  PTV segments for ease of optimization and better control over dose build-up during optimization over each PTV segment.</vt:lpstr>
      <vt:lpstr>Beam Arrangement and MU _HFS 1 of 2 </vt:lpstr>
      <vt:lpstr>Beam Arrangement and MU _HFS 2 of 2 </vt:lpstr>
      <vt:lpstr>HFS  Optimization Parameters Set -1 of 4 </vt:lpstr>
      <vt:lpstr>HFS  Optimization Parameters Set -2 of 4</vt:lpstr>
      <vt:lpstr>HFS  Optimization Parameters Set -3 of 4</vt:lpstr>
      <vt:lpstr>HFS   Optimization Parameters Set -4 of 4</vt:lpstr>
      <vt:lpstr>Isocentre placement and Dose Distribution (coronal)-HFS  Element-2</vt:lpstr>
      <vt:lpstr>Isocentre placement and Dose Distribution (Sagittal)-HFS</vt:lpstr>
      <vt:lpstr>Arcs and Dose Distribution (Axial)- HFS CT</vt:lpstr>
      <vt:lpstr>FFS Plan :  Beam Arrangement and MU </vt:lpstr>
      <vt:lpstr>FFS-CT beam Placement and dose distribution (3D Representation) – Element -3</vt:lpstr>
      <vt:lpstr>FFS Plan :  FFS-CT dose distribution (Sagittal and Coronal) </vt:lpstr>
      <vt:lpstr>Resultant dose distribution: HFS Plan + FFS Plan+ HFS Junction Plan Element 1+2+3</vt:lpstr>
      <vt:lpstr>Typical Dose Distribution (lung :superior) </vt:lpstr>
      <vt:lpstr>Typical Dose Distribution (lung: mid level) </vt:lpstr>
      <vt:lpstr>Typical Dose Distribution (Kidney level)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Biplab Sarkar</dc:creator>
  <cp:lastModifiedBy>Biplab Sarkar</cp:lastModifiedBy>
  <cp:revision>43</cp:revision>
  <dcterms:created xsi:type="dcterms:W3CDTF">2022-03-10T17:24:08Z</dcterms:created>
  <dcterms:modified xsi:type="dcterms:W3CDTF">2022-08-09T07:12:19Z</dcterms:modified>
</cp:coreProperties>
</file>